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644383177747c9" /><Relationship Type="http://schemas.openxmlformats.org/officeDocument/2006/relationships/extended-properties" Target="/docProps/app.xml" Id="R47f53373cd2e4283" /><Relationship Type="http://schemas.openxmlformats.org/officeDocument/2006/relationships/officeDocument" Target="/ppt/presentation.xml" Id="Rfe184532806e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e765b92524927"/>
  </p:sldMasterIdLst>
  <p:notesMasterIdLst>
    <p:notesMasterId xmlns:r="http://schemas.openxmlformats.org/officeDocument/2006/relationships" r:id="Raf5ea17e37b34454"/>
  </p:notesMasterIdLst>
  <p:sldIdLst>
    <p:sldId xmlns:r="http://schemas.openxmlformats.org/officeDocument/2006/relationships" id="256" r:id="R4fea84854d3c4ec9"/>
    <p:sldId xmlns:r="http://schemas.openxmlformats.org/officeDocument/2006/relationships" id="257" r:id="R575779cb82d04908"/>
    <p:sldId xmlns:r="http://schemas.openxmlformats.org/officeDocument/2006/relationships" id="258" r:id="R8788ec18df504288"/>
    <p:sldId xmlns:r="http://schemas.openxmlformats.org/officeDocument/2006/relationships" id="259" r:id="R542043d64e7d41b5"/>
    <p:sldId xmlns:r="http://schemas.openxmlformats.org/officeDocument/2006/relationships" id="260" r:id="Ra344664e00fa48aa"/>
    <p:sldId xmlns:r="http://schemas.openxmlformats.org/officeDocument/2006/relationships" id="261" r:id="R4f444a347a594e93"/>
    <p:sldId xmlns:r="http://schemas.openxmlformats.org/officeDocument/2006/relationships" id="262" r:id="Re68b346847dd4a76"/>
    <p:sldId xmlns:r="http://schemas.openxmlformats.org/officeDocument/2006/relationships" id="263" r:id="R000919ff31444155"/>
    <p:sldId xmlns:r="http://schemas.openxmlformats.org/officeDocument/2006/relationships" id="264" r:id="Re2a839df360f4fae"/>
    <p:sldId xmlns:r="http://schemas.openxmlformats.org/officeDocument/2006/relationships" id="265" r:id="Rd9a917da1cd44e35"/>
    <p:sldId xmlns:r="http://schemas.openxmlformats.org/officeDocument/2006/relationships" id="266" r:id="Ra835598834524018"/>
    <p:sldId xmlns:r="http://schemas.openxmlformats.org/officeDocument/2006/relationships" id="267" r:id="R7bcb48eada6b48a7"/>
    <p:sldId xmlns:r="http://schemas.openxmlformats.org/officeDocument/2006/relationships" id="268" r:id="R2e8061678f8d48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b66fbfa46461c" /><Relationship Type="http://schemas.openxmlformats.org/officeDocument/2006/relationships/slideMaster" Target="/ppt/slideMasters/slideMaster1.xml" Id="R3d0e765b92524927" /><Relationship Type="http://schemas.openxmlformats.org/officeDocument/2006/relationships/notesMaster" Target="/ppt/notesMasters/notesMaster1.xml" Id="Raf5ea17e37b34454" /><Relationship Type="http://schemas.openxmlformats.org/officeDocument/2006/relationships/presProps" Target="/ppt/presProps.xml" Id="R2bfb1be07bb24180" /><Relationship Type="http://schemas.openxmlformats.org/officeDocument/2006/relationships/tableStyles" Target="/ppt/tableStyles.xml" Id="Ra7367200093d4649" /><Relationship Type="http://schemas.openxmlformats.org/officeDocument/2006/relationships/slide" Target="/ppt/slides/slide1.xml" Id="R4fea84854d3c4ec9" /><Relationship Type="http://schemas.openxmlformats.org/officeDocument/2006/relationships/slide" Target="/ppt/slides/slide2.xml" Id="R575779cb82d04908" /><Relationship Type="http://schemas.openxmlformats.org/officeDocument/2006/relationships/slide" Target="/ppt/slides/slide3.xml" Id="R8788ec18df504288" /><Relationship Type="http://schemas.openxmlformats.org/officeDocument/2006/relationships/slide" Target="/ppt/slides/slide4.xml" Id="R542043d64e7d41b5" /><Relationship Type="http://schemas.openxmlformats.org/officeDocument/2006/relationships/slide" Target="/ppt/slides/slide5.xml" Id="Ra344664e00fa48aa" /><Relationship Type="http://schemas.openxmlformats.org/officeDocument/2006/relationships/slide" Target="/ppt/slides/slide6.xml" Id="R4f444a347a594e93" /><Relationship Type="http://schemas.openxmlformats.org/officeDocument/2006/relationships/slide" Target="/ppt/slides/slide7.xml" Id="Re68b346847dd4a76" /><Relationship Type="http://schemas.openxmlformats.org/officeDocument/2006/relationships/slide" Target="/ppt/slides/slide8.xml" Id="R000919ff31444155" /><Relationship Type="http://schemas.openxmlformats.org/officeDocument/2006/relationships/slide" Target="/ppt/slides/slide9.xml" Id="Re2a839df360f4fae" /><Relationship Type="http://schemas.openxmlformats.org/officeDocument/2006/relationships/slide" Target="/ppt/slides/slide10.xml" Id="Rd9a917da1cd44e35" /><Relationship Type="http://schemas.openxmlformats.org/officeDocument/2006/relationships/slide" Target="/ppt/slides/slide11.xml" Id="Ra835598834524018" /><Relationship Type="http://schemas.openxmlformats.org/officeDocument/2006/relationships/slide" Target="/ppt/slides/slide12.xml" Id="R7bcb48eada6b48a7" /><Relationship Type="http://schemas.openxmlformats.org/officeDocument/2006/relationships/slide" Target="/ppt/slides/slide13.xml" Id="R2e8061678f8d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005889b32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a6340a9a14d19" /><Relationship Type="http://schemas.openxmlformats.org/officeDocument/2006/relationships/notesMaster" Target="/ppt/notesMasters/notesMaster1.xml" Id="R6d0e70a551e8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5b1092141c44b9" /><Relationship Type="http://schemas.openxmlformats.org/officeDocument/2006/relationships/notesMaster" Target="/ppt/notesMasters/notesMaster1.xml" Id="R8ad04e738eae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8d4824955946ea" /><Relationship Type="http://schemas.openxmlformats.org/officeDocument/2006/relationships/notesMaster" Target="/ppt/notesMasters/notesMaster1.xml" Id="R140cd6bb9e4442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a885e20b14fbc" /><Relationship Type="http://schemas.openxmlformats.org/officeDocument/2006/relationships/notesMaster" Target="/ppt/notesMasters/notesMaster1.xml" Id="R6850cf579cf5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379bc3fb424ab4" /><Relationship Type="http://schemas.openxmlformats.org/officeDocument/2006/relationships/notesMaster" Target="/ppt/notesMasters/notesMaster1.xml" Id="R41cb6fa2052347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a3f39c7a64691" /><Relationship Type="http://schemas.openxmlformats.org/officeDocument/2006/relationships/notesMaster" Target="/ppt/notesMasters/notesMaster1.xml" Id="R0f1bf6c0401c40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fd9273f28e4e59" /><Relationship Type="http://schemas.openxmlformats.org/officeDocument/2006/relationships/notesMaster" Target="/ppt/notesMasters/notesMaster1.xml" Id="Rf00b2312fddf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c3674a064c4f43" /><Relationship Type="http://schemas.openxmlformats.org/officeDocument/2006/relationships/notesMaster" Target="/ppt/notesMasters/notesMaster1.xml" Id="Rc6ed0a9b612147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6bfc8fec304490" /><Relationship Type="http://schemas.openxmlformats.org/officeDocument/2006/relationships/notesMaster" Target="/ppt/notesMasters/notesMaster1.xml" Id="R6946d1bcf82e4c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7b1ded3a5a44bc" /><Relationship Type="http://schemas.openxmlformats.org/officeDocument/2006/relationships/notesMaster" Target="/ppt/notesMasters/notesMaster1.xml" Id="Rf9e64abf92cd4a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ffd3e84ce2412e" /><Relationship Type="http://schemas.openxmlformats.org/officeDocument/2006/relationships/notesMaster" Target="/ppt/notesMasters/notesMaster1.xml" Id="R33546bbd79114a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d9fc78fd8e4a6f" /><Relationship Type="http://schemas.openxmlformats.org/officeDocument/2006/relationships/notesMaster" Target="/ppt/notesMasters/notesMaster1.xml" Id="R63b3b791b20c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302808eefa4da3" /><Relationship Type="http://schemas.openxmlformats.org/officeDocument/2006/relationships/notesMaster" Target="/ppt/notesMasters/notesMaster1.xml" Id="R943713233e444a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7fe844dc042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e7913225444c3" /><Relationship Type="http://schemas.openxmlformats.org/officeDocument/2006/relationships/slideLayout" Target="/ppt/slideLayouts/slideLayout1.xml" Id="Rf138dfee078f49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8dfee078f49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ad96728864c55" /><Relationship Type="http://schemas.openxmlformats.org/officeDocument/2006/relationships/notesSlide" Target="/ppt/notesSlides/notesSlide1.xml" Id="Rfc83ce75da95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70a9180a24625" /><Relationship Type="http://schemas.openxmlformats.org/officeDocument/2006/relationships/notesSlide" Target="/ppt/notesSlides/notesSlide2.xml" Id="R8b2f4ba0162241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b8b284c6549b6" /><Relationship Type="http://schemas.openxmlformats.org/officeDocument/2006/relationships/notesSlide" Target="/ppt/notesSlides/notesSlide3.xml" Id="Rb4bb45ab834b48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483a9491419a" /><Relationship Type="http://schemas.openxmlformats.org/officeDocument/2006/relationships/notesSlide" Target="/ppt/notesSlides/notesSlide4.xml" Id="R7d959b3057c84d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e1013d0a048df" /><Relationship Type="http://schemas.openxmlformats.org/officeDocument/2006/relationships/notesSlide" Target="/ppt/notesSlides/notesSlide5.xml" Id="Rfe2bc49dade745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bb835a014c55" /><Relationship Type="http://schemas.openxmlformats.org/officeDocument/2006/relationships/notesSlide" Target="/ppt/notesSlides/notesSlide6.xml" Id="R55311c300b294c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92542f75b4479" /><Relationship Type="http://schemas.openxmlformats.org/officeDocument/2006/relationships/notesSlide" Target="/ppt/notesSlides/notesSlide7.xml" Id="R3428a7af34224b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d1150b084d49" /><Relationship Type="http://schemas.openxmlformats.org/officeDocument/2006/relationships/notesSlide" Target="/ppt/notesSlides/notesSlide8.xml" Id="R69bdf8524ed44c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4fd3f50644d35" /><Relationship Type="http://schemas.openxmlformats.org/officeDocument/2006/relationships/notesSlide" Target="/ppt/notesSlides/notesSlide9.xml" Id="Rf67b5dde882e4e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348f8b68f4446" /><Relationship Type="http://schemas.openxmlformats.org/officeDocument/2006/relationships/notesSlide" Target="/ppt/notesSlides/notesSlide10.xml" Id="Ra383ca7c48c84b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7b7b1f3dd4922" /><Relationship Type="http://schemas.openxmlformats.org/officeDocument/2006/relationships/notesSlide" Target="/ppt/notesSlides/notesSlide11.xml" Id="Ra89d02d8c8d046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5255e1b043ac" /><Relationship Type="http://schemas.openxmlformats.org/officeDocument/2006/relationships/notesSlide" Target="/ppt/notesSlides/notesSlide12.xml" Id="R7776a881d64243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a763c7a5442d8" /><Relationship Type="http://schemas.openxmlformats.org/officeDocument/2006/relationships/notesSlide" Target="/ppt/notesSlides/notesSlide13.xml" Id="R281b7b94a28f44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9777B-120C-4BBE-9F5B-03A75432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A3B5C-F641-46EC-9C06-66624EC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A38"/>
                </a:solidFill>
              </a:defRPr>
            </a:pPr>
            <a:r>
              <a:rPr sz="1350" b="1">
                <a:solidFill>
                  <a:srgbClr val="D85A38"/>
                </a:solidFill>
              </a:rPr>
              <a:t>开题报告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BC643-73F7-40A7-B4A0-BE8324E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1414"/>
                </a:solidFill>
              </a:defRPr>
            </a:pPr>
            <a:r>
              <a:rPr sz="4350" b="1">
                <a:solidFill>
                  <a:srgbClr val="141414"/>
                </a:solidFill>
              </a:rPr>
              <a:t>偏好优化中的</a:t>
            </a:r>
          </a:p>
          <a:p xmlns:a="http://schemas.openxmlformats.org/drawingml/2006/main">
            <a:pPr algn="l">
              <a:defRPr sz="4350" b="1">
                <a:solidFill>
                  <a:srgbClr val="141414"/>
                </a:solidFill>
              </a:defRPr>
            </a:pPr>
            <a:r>
              <a:rPr sz="4350" b="1">
                <a:solidFill>
                  <a:srgbClr val="141414"/>
                </a:solidFill>
              </a:rPr>
              <a:t>风险-多样性解耦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2124F-ACC8-406E-80E7-E565C4F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6D"/>
                </a:solidFill>
              </a:defRPr>
            </a:pPr>
            <a:r>
              <a:rPr sz="1800" b="0">
                <a:solidFill>
                  <a:srgbClr val="62666D"/>
                </a:solidFill>
              </a:rPr>
              <a:t>当前发现的问题：模型可能在保持多样的同时，整体更接近风险回答区域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4B455-D7EC-41A5-A824-1D43D83D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F42F4-1BF2-4FCD-9957-5C66FD65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研究对象：DPO 训练后的语言模型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现有证据：Qwen3 先导实验、换题验证与对照实验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当前状态：80 条零重叠提示的严格验证已准备就绪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BCB46-C85E-4E94-B10A-76E0CD8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028700"/>
            <a:ext cx="2238375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908E5-2C4F-40E8-85AB-E8425CC9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14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5A38"/>
                </a:solidFill>
              </a:defRPr>
            </a:pPr>
            <a:r>
              <a:rPr sz="1200" b="1">
                <a:solidFill>
                  <a:srgbClr val="D85A38"/>
                </a:solidFill>
              </a:rPr>
              <a:t>核心问题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A725B-2C2E-4547-B87A-5EFA2FD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57375"/>
            <a:ext cx="1695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当模型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更危险时，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它会变得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更固定，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还是更多样？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A6C62-C145-4886-9A35-F5A1618C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5290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9641B-A540-4BAC-B6E2-65ED207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100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风险与多样性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是否能分开变化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B2757-6A5F-44E2-A078-52C04CB0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2026 年 7 月</a:t>
            </a:r>
          </a:p>
        </p:txBody>
      </p:sp>
    </p:spTree>
    <p:extLst>
      <p:ext uri="{BB962C8B-B14F-4D97-AF65-F5344CB8AC3E}">
        <p14:creationId xmlns:p14="http://schemas.microsoft.com/office/powerpoint/2010/main" val="962492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F786D-6A8C-4A84-9FBF-286FE8E4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01 当前问题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5CA27-522D-4F43-9B6A-C9756CA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安全风险未必以“重复回答”出现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00AA5-40F9-47C0-AD5A-7B72A169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如果风险分散在不同回答中，传统的重复性检查可能遗漏它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E120-B423-44E6-B229-79028A8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731E6-ADE5-4E51-A2B6-BC23BF58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EE413-94EF-49A4-9252-6100CE15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A4B3-A451-443F-8DAF-E1EF2545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容易发现的风险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FA746-ADEF-469B-AF23-BCC368E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414"/>
                </a:solidFill>
              </a:defRPr>
            </a:pPr>
            <a:r>
              <a:rPr sz="2025" b="1">
                <a:solidFill>
                  <a:srgbClr val="141414"/>
                </a:solidFill>
              </a:rPr>
              <a:t>同一问题反复采样，</a:t>
            </a:r>
          </a:p>
          <a:p xmlns:a="http://schemas.openxmlformats.org/drawingml/2006/main">
            <a:pPr algn="l">
              <a:defRPr sz="2025" b="1">
                <a:solidFill>
                  <a:srgbClr val="141414"/>
                </a:solidFill>
              </a:defRPr>
            </a:pPr>
            <a:r>
              <a:rPr sz="2025" b="1">
                <a:solidFill>
                  <a:srgbClr val="141414"/>
                </a:solidFill>
              </a:rPr>
              <a:t>模型总落到同一类</a:t>
            </a:r>
          </a:p>
          <a:p xmlns:a="http://schemas.openxmlformats.org/drawingml/2006/main">
            <a:pPr algn="l">
              <a:defRPr sz="2025" b="1">
                <a:solidFill>
                  <a:srgbClr val="141414"/>
                </a:solidFill>
              </a:defRPr>
            </a:pPr>
            <a:r>
              <a:rPr sz="2025" b="1">
                <a:solidFill>
                  <a:srgbClr val="141414"/>
                </a:solidFill>
              </a:rPr>
              <a:t>危险回答。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F34D0-F781-41EA-BD7F-842832F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特征：高确定性、低模式熵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157C1-EFA5-43E2-B2D1-3362E1F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85A38"/>
                </a:solidFill>
              </a:defRPr>
            </a:pPr>
            <a:r>
              <a:rPr sz="1950" b="1">
                <a:solidFill>
                  <a:srgbClr val="D85A38"/>
                </a:solidFill>
              </a:rPr>
              <a:t>vs.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09F89-FFD1-490F-8252-E88057C3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857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9525">
            <a:solidFill>
              <a:srgbClr val="D85A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D26F4-74C5-46A4-982D-FC314BC9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5A38"/>
                </a:solidFill>
              </a:defRPr>
            </a:pPr>
            <a:r>
              <a:rPr sz="1575" b="1">
                <a:solidFill>
                  <a:srgbClr val="D85A38"/>
                </a:solidFill>
              </a:rPr>
              <a:t>本课题关注的风险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A7300-0802-4261-8C46-C23FF502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模型每次说法不同，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但安全评分整体升高，</a:t>
            </a:r>
          </a:p>
          <a:p xmlns:a="http://schemas.openxmlformats.org/drawingml/2006/main">
            <a:pPr algn="l">
              <a:defRPr sz="2325" b="1">
                <a:solidFill>
                  <a:srgbClr val="141414"/>
                </a:solidFill>
              </a:defRPr>
            </a:pPr>
            <a:r>
              <a:rPr sz="2325" b="1">
                <a:solidFill>
                  <a:srgbClr val="141414"/>
                </a:solidFill>
              </a:rPr>
              <a:t>拒答持续减少。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EC946-01DE-4F33-BF71-882DC38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特征：风险上升，多样性不降或上升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1F1D2-5F84-4AD9-A58A-D7B64F1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6C9B"/>
                </a:solidFill>
              </a:defRPr>
            </a:pPr>
            <a:r>
              <a:rPr sz="2025" b="1">
                <a:solidFill>
                  <a:srgbClr val="286C9B"/>
                </a:solidFill>
              </a:rPr>
              <a:t>这不是“模型是否会重复”，而是“风险在输出分布中如何迁移”。</a:t>
            </a:r>
          </a:p>
        </p:txBody>
      </p:sp>
    </p:spTree>
    <p:extLst>
      <p:ext uri="{BB962C8B-B14F-4D97-AF65-F5344CB8AC3E}">
        <p14:creationId xmlns:p14="http://schemas.microsoft.com/office/powerpoint/2010/main" val="59465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8A67F-E98E-42A5-9A28-859A853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02 文献空白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4AF27-D2F7-4FAE-ABF5-C0ED611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已有工作分别讨论风险或多样性，本题研究二者的联合变化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220AC-491A-45B2-872B-055E399F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新意不在于重新证明 DPO 有风险，而在于刻画风险位于哪些语义模式中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D22F2-3E09-470D-AEA2-0DC8C48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D3AA7-A031-42DC-9C5B-73B430E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A8D21-28BD-4482-B115-4C8073F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9D0BE-AEDD-4672-96F8-FCF3197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BC3C9-5286-4009-92C8-83CC48A9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已有方向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2CD1A-4A7E-4998-AF75-4FA41D3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4248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99D3-C3B0-4F6C-AD2D-0E707F1E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前人已经说明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C024D-4743-44BE-A3D2-A943028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421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D06E5-D313-4ED4-A6AB-803079F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本题继续追问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FAC21-12CF-41F7-979C-B8EE2D0B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85309-B1A5-4CB4-ACCF-F33C440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DPO 与对齐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B5688-1E9F-4556-A4BF-8D38C670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95550"/>
            <a:ext cx="4248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E5966-853C-4C90-B1C3-E58CC735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908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偏好对可直接优化模型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57F15-39BB-4B57-A6F6-DE571954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421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449A7-9A8E-49F9-9279-07799FD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安全风险与多样性如何共同变化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CA663-72D9-4FEE-8899-3E7C509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1139F-FC8F-475C-83E3-2A498FC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目标病态与过优化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049A1-D461-4F2F-9219-ABD614A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48000"/>
            <a:ext cx="4248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AFCD5-58E1-44A4-8261-B038EB7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偏好间隔、似然与泛化可脱节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527A8-7875-410C-BC59-AD2EDBFD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421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A6020-796B-4FE8-8652-0F75A861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这种断裂是否体现在安全风险上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FB9D4-26F9-4F79-A7E9-3AC2D21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654B4-C1D5-4096-AA67-E1E199E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多样性优化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0CF3D-2659-45A7-AFED-6F541648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00450"/>
            <a:ext cx="4248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23789-0A83-4E59-9857-367652C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957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后训练可使分布变尖；也可保留多样性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54484-97A6-45C2-BD18-6843E1D0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421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EFE7C-D6A3-4E7E-ABC2-86D59DEA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多样性未降时，风险是否仍会升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27534-3BE6-4AD3-9807-EC8CAA17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E9BA7-B186-4D1F-9783-C7D3240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DPO 安全攻击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761FA-3CE0-4643-9CF6-5DF8B8B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52900"/>
            <a:ext cx="4248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E38F1A-6908-46B5-B58E-D234BB7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可压低拒答、提高攻击成功率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EA2E34-2058-4A6D-B989-28BD8A31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52900"/>
            <a:ext cx="421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E6A28-8DE9-4371-A249-B48E2BDD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风险是单一模式集中，还是多模式扩散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E3C61-D8B9-4BE4-8580-894D1D5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</a:defRPr>
            </a:pPr>
            <a:r>
              <a:rPr sz="975" b="0">
                <a:solidFill>
                  <a:srgbClr val="62666D"/>
                </a:solidFill>
              </a:rPr>
              <a:t>关键文献：Rafailov et al., 2023/ICLR 2024；Pal et al., 2024；Shi et al., 2024；Lanchantin et al., 2025；Yoon et al., 2026。</a:t>
            </a:r>
          </a:p>
        </p:txBody>
      </p:sp>
    </p:spTree>
    <p:extLst>
      <p:ext uri="{BB962C8B-B14F-4D97-AF65-F5344CB8AC3E}">
        <p14:creationId xmlns:p14="http://schemas.microsoft.com/office/powerpoint/2010/main" val="346265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89F5D-5BE5-49F5-A628-43F2047A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03 研究假设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E22C-B99F-4532-ABED-3BC2C9F3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风险上升与多样性下降不是必然绑定的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8B749-9C28-480D-9160-9D87D92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把“风险变化”和“多样性变化”作为两条独立坐标轴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D024F-7B0A-4600-AB7B-6D63BB6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92E6C-8B9D-464E-8626-EEECB009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C8096-3BE6-4D19-A914-7AA0AC13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C68CD-FEB9-4514-93F1-088D93CB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</a:defRPr>
            </a:pPr>
            <a:r>
              <a:rPr sz="1200" b="1">
                <a:solidFill>
                  <a:srgbClr val="62666D"/>
                </a:solidFill>
              </a:rPr>
              <a:t>多样性变化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23DA0-9E4A-4161-AF6D-39122DB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下降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0B546-5595-4249-BEA7-4E983EF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不降 / 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75A6D-1011-4519-B33A-53D492E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</a:defRPr>
            </a:pPr>
            <a:r>
              <a:rPr sz="1350" b="1">
                <a:solidFill>
                  <a:srgbClr val="62666D"/>
                </a:solidFill>
              </a:rPr>
              <a:t>风险</a:t>
            </a:r>
          </a:p>
          <a:p xmlns:a="http://schemas.openxmlformats.org/drawingml/2006/main">
            <a:pPr algn="l">
              <a:defRPr sz="1350" b="1">
                <a:solidFill>
                  <a:srgbClr val="62666D"/>
                </a:solidFill>
              </a:defRPr>
            </a:pPr>
            <a:r>
              <a:rPr sz="1350" b="1">
                <a:solidFill>
                  <a:srgbClr val="62666D"/>
                </a:solidFill>
              </a:rPr>
              <a:t>上升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1D9AA-3C49-40A7-909F-B182F56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</a:defRPr>
            </a:pPr>
            <a:r>
              <a:rPr sz="1350" b="1">
                <a:solidFill>
                  <a:srgbClr val="62666D"/>
                </a:solidFill>
              </a:rPr>
              <a:t>风险</a:t>
            </a:r>
          </a:p>
          <a:p xmlns:a="http://schemas.openxmlformats.org/drawingml/2006/main">
            <a:pPr algn="l">
              <a:defRPr sz="1350" b="1">
                <a:solidFill>
                  <a:srgbClr val="62666D"/>
                </a:solidFill>
              </a:defRPr>
            </a:pPr>
            <a:r>
              <a:rPr sz="1350" b="1">
                <a:solidFill>
                  <a:srgbClr val="62666D"/>
                </a:solidFill>
              </a:rPr>
              <a:t>下降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E7F22-DC45-4575-BDAD-C1E479A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76500"/>
            <a:ext cx="381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9B4D0-8672-4272-AE8A-CA58408F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3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集中式风险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30A26-540C-4C1A-AA06-AEB6EA6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28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风险上升，多样性下降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传统的“稳定危险模式”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E2525-E5C9-467D-AB48-474015B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381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9525">
            <a:solidFill>
              <a:srgbClr val="D85A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7C041-E874-4B7D-A3BC-78264252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5A38"/>
                </a:solidFill>
              </a:defRPr>
            </a:pPr>
            <a:r>
              <a:rPr sz="1575" b="1">
                <a:solidFill>
                  <a:srgbClr val="D85A38"/>
                </a:solidFill>
              </a:rPr>
              <a:t>分散式风险迁移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979C0-6FB0-4ED9-A0F6-8EF09C9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风险上升，多样性不降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当前发现的问题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9E3B2-B002-4A17-AC15-34ABD9E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10050"/>
            <a:ext cx="381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91180-26A9-4E63-AB7F-05F1FA5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719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安全集中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A2288-1315-4644-A871-67D028D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拒答或安全模板变得更稳定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6F921-2CC3-4E56-8131-D42AB276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3810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F9FA5-7033-4BF0-934D-9B2FB93F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良性多样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1834E-0586-4C82-9FF2-D93BCE0C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风险不升，输出保持分散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F5C67-4728-48FA-96BC-8BD7984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48350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A38"/>
                </a:solidFill>
              </a:defRPr>
            </a:pPr>
            <a:r>
              <a:rPr sz="1350" b="1">
                <a:solidFill>
                  <a:srgbClr val="D85A38"/>
                </a:solidFill>
              </a:rPr>
              <a:t>本研究的目标：验证第二象限是否稳定存在，并解释它出现的条件。</a:t>
            </a:r>
          </a:p>
        </p:txBody>
      </p:sp>
    </p:spTree>
    <p:extLst>
      <p:ext uri="{BB962C8B-B14F-4D97-AF65-F5344CB8AC3E}">
        <p14:creationId xmlns:p14="http://schemas.microsoft.com/office/powerpoint/2010/main" val="1592892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DDE90-E15E-45E9-BA76-AB651C0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04 测量方法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85625-69A9-49C7-AD6B-4425F32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不只看最常见的回答，也看整体风险和风险的分布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0773E-6E7A-4C49-9E4B-03D27F5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每个提示重复采样，语义聚类后再结合安全分类器审计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2E8D1-163E-49E1-A487-153BE97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3CBAB-2E94-48B6-96FD-1794D61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0A209-C29B-4A01-851D-ADA127EA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824A7-6546-4C4F-99F9-972913A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5FA37-E818-4E61-B064-1C100FE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确定性 / 模式熵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1C578-A533-4B0B-AF5B-1286C1A3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6C9B"/>
                </a:solidFill>
              </a:defRPr>
            </a:pPr>
            <a:r>
              <a:rPr sz="2550" b="1">
                <a:solidFill>
                  <a:srgbClr val="286C9B"/>
                </a:solidFill>
              </a:rPr>
              <a:t>多样性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7EF19-56A7-4A5D-B1AE-83909726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回答是否更集中或更分散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9C862-15A8-478D-96C4-70B3724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0400-7F64-4B09-8A64-71FC88B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RDI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7E9DC-4F10-4D64-94C1-DC87841C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812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5A38"/>
                </a:solidFill>
              </a:defRPr>
            </a:pPr>
            <a:r>
              <a:rPr sz="2550" b="1">
                <a:solidFill>
                  <a:srgbClr val="D85A38"/>
                </a:solidFill>
              </a:rPr>
              <a:t>总体风险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414AC-6475-4232-B53F-9495E351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所有语义模式的概率加权风险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FDA7D-971F-444D-B755-68DBFA9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43E10-2508-4D26-8A2B-C0BA4C15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风险熵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438E6-62D1-46AD-9AB7-F418F6B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7D5B"/>
                </a:solidFill>
              </a:defRPr>
            </a:pPr>
            <a:r>
              <a:rPr sz="2550" b="1">
                <a:solidFill>
                  <a:srgbClr val="377D5B"/>
                </a:solidFill>
              </a:rPr>
              <a:t>风险分布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99A75-DE0F-412B-B106-67A8F92D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风险集中在一种还是多种回答中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DCF81-2ECE-4920-8802-60D1442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02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9D61A-32E4-4AFF-80DB-DBC36540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评估链路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00E1F-60ED-4575-B93B-89C52822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935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32 次采样  →  语义聚类  →  多样性指标  →  Granite Guardian + 第二分类器  →  RDI、风险熵、逐题结果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CA4C3-1F57-4803-BFC7-4D1C490E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原则：单一平均数、单一安全分类器或单一多样性指标都不足以得出结论。</a:t>
            </a:r>
          </a:p>
        </p:txBody>
      </p:sp>
    </p:spTree>
    <p:extLst>
      <p:ext uri="{BB962C8B-B14F-4D97-AF65-F5344CB8AC3E}">
        <p14:creationId xmlns:p14="http://schemas.microsoft.com/office/powerpoint/2010/main" val="987741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3E16A-1676-4E5C-8C02-EA9274E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05 已有实验为何这样设计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BE967-9C1C-4384-94D2-9C73A2F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每项实验都排除一种常见的错误解释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F907F-7488-403F-A46B-B81680C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先确认现象是否存在，再确认它不是模型、题目或裁判的假象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CF2C9-E1DC-42CB-AF58-B5525AA8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46202-C392-4F78-AAC1-5DB5B7E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8F9C2-AD9F-4BDD-82FE-E63B2AE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2287-3A54-468B-BD9F-ABAE72D5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F2B8A-E6CB-427D-A2EB-C0233723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B85B4-D6E9-44BD-9231-5B39CCB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B6DB2-C871-4513-BF1F-ED6243C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设计原因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2F244-AE21-4E85-8A73-B01BDED0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D06AE-093E-4D6B-B18F-9C66FF5B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已经得到的作用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EBCF7-C755-42FA-B2D5-20BF8F90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D2F05-8BCC-4951-9171-D820C73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Qwen3-1.7B，双种子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AAA5C-520F-4050-83E2-915B83A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E86E7-B6A6-48BC-9683-FAEF7D7B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验证现代模型上是否存在稳定方向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98186-C14C-4048-BCD0-1007A5C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FEB2B-915A-4071-8FBF-BD0D088A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最强直接证据：风险上升且更分散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9CA3D-FFAE-4F43-8B0F-ED20753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D7DE1-6DC7-4F9F-A201-32E0F43A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Qwen3-4B，方向复核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A832F-6076-4462-ABF2-EBBD0000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A7039-66AC-4B80-97E4-54F122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排除 1.7B 单模型偶然性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DACC0-57FD-4F6C-A062-F9CD18E3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F7381-8CF7-49FF-81CB-2ABCB80D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更大模型上方向未反转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022E0-07DA-4B30-AA64-BAF13D0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BE9CE-1EB2-4ECB-9EFD-ADFB81A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30 题 held-out + 50 题拆分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BC7AB-FF5D-4DD5-B710-6DD18198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5714E-45BC-451B-96D8-5CE04B2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排除 first-10 和聚合平均数误导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9C887-24F4-43DD-AF0C-45C04E92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914D9-D100-4843-A773-972F15F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风险移动存在，但提示级异质性显著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C52BD6-61CA-4B2F-BBBF-A5C0A1F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83F11-5CE0-4581-9C0B-9ECACE48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拒答模板对照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142C9-EFE3-41FE-9FF9-2E5CC2EA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04700-BC2C-477A-B484-2FFC13EB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排除“输出更固定就更危险”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B251BD-A094-4A9B-948F-D4AFF4AA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35FBC2-1ED2-4FCC-BBE8-894527A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767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集中可以更安全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8C79F8-4DB7-4D1E-A2F7-CC9780E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CBEDB-CE8D-4EFA-B703-ADBFCB3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Guardian 固定回答对照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BC397-AD81-4E29-8040-3657457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232A9A-371F-4AD0-BDF9-1F296D26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排除分类器只看有害提示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B90C89-F1C6-4704-8A1E-3A60DA45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F944B2-BBBF-468A-BEBA-9EF9B77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910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风险评分会随回答内容变化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B0380-F18F-448E-A705-7AAB6F4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508B7E-1129-4475-B8C7-71F3331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80 题零重叠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2E1696-32C8-4722-8B21-919FA12D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101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2721B3-F9EE-4B86-8D45-63789FFF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05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排除新一轮挑题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A3A44-93F5-4223-A9EE-13697AAD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10150"/>
            <a:ext cx="388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7DC2C6-4227-4C6E-B416-DE564AF8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054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下一阶段题集与安全基线已确认</a:t>
            </a:r>
          </a:p>
        </p:txBody>
      </p:sp>
    </p:spTree>
    <p:extLst>
      <p:ext uri="{BB962C8B-B14F-4D97-AF65-F5344CB8AC3E}">
        <p14:creationId xmlns:p14="http://schemas.microsoft.com/office/powerpoint/2010/main" val="1034202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04EA5-6777-4FD2-9CB7-836890E5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06 Qwen3-1.7B 给出了最强的当前证据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1CBE5-D6B5-409A-8427-1C0289C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DPO 后 Guardian 风险显著上升，但确定性下降、模式熵上升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86964-1AD7-462C-A66F-D83CF5B8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LoRA-DPO，300 steps，两个独立训练种子，10 题 × 16 次采样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338A1-1808-4E1A-AD8C-68CC1C2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06C93-5E54-4CC6-B8E4-3FE8B22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E951A-2A4F-425E-8C15-28A2186D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82978-8190-4D59-BFEA-5E6B4353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训练前后变化（pooled，95% bootstrap CI）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902F9-6DF2-430F-B2B1-9F9E703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确定性 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DCED8-D17B-4CDD-A8AB-79D8DA96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61BE0-D2DB-42A5-85A5-0F3B85F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456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ADF0B-8057-4325-A496-FABE0823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C9B"/>
                </a:solidFill>
              </a:defRPr>
            </a:pPr>
            <a:r>
              <a:rPr sz="1350" b="1">
                <a:solidFill>
                  <a:srgbClr val="286C9B"/>
                </a:solidFill>
              </a:rPr>
              <a:t>−0.053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EE50D-478E-4101-AD15-2251F618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模式熵 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7CACD-A23B-43FA-B86C-F4D8D70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51A86-4058-479A-BB1D-3F9AE52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7758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7697-6854-403E-93FA-167E6756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7D5B"/>
                </a:solidFill>
              </a:defRPr>
            </a:pPr>
            <a:r>
              <a:rPr sz="1350" b="1">
                <a:solidFill>
                  <a:srgbClr val="377D5B"/>
                </a:solidFill>
              </a:rPr>
              <a:t>+0.168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90E2E-53F7-4D73-83B5-5B9048D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Guardian Yes 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3CCB6-58DD-44F4-80BB-7C243443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BBF1C-B3F5-4102-BC99-AADC64E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1189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D4E31-A176-4F25-A863-042DBF6F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A38"/>
                </a:solidFill>
              </a:defRPr>
            </a:pPr>
            <a:r>
              <a:rPr sz="1350" b="1">
                <a:solidFill>
                  <a:srgbClr val="D85A38"/>
                </a:solidFill>
              </a:rPr>
              <a:t>+0.478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5DBED-4F5E-4E7E-816D-20DF49CD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4667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49260-E9D3-4E34-8AB6-71FA2683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A38"/>
                </a:solidFill>
              </a:defRPr>
            </a:pPr>
            <a:r>
              <a:rPr sz="1350" b="1">
                <a:solidFill>
                  <a:srgbClr val="D85A38"/>
                </a:solidFill>
              </a:rPr>
              <a:t>行为变化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0DE88-FE69-412D-A1A7-AE857D2B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</a:defRPr>
            </a:pPr>
            <a:r>
              <a:rPr sz="1200" b="1">
                <a:solidFill>
                  <a:srgbClr val="62666D"/>
                </a:solidFill>
              </a:rPr>
              <a:t>拒答率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12D0E-4441-4BCE-8A79-80FB040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6C9B"/>
                </a:solidFill>
              </a:defRPr>
            </a:pPr>
            <a:r>
              <a:rPr sz="2175" b="1">
                <a:solidFill>
                  <a:srgbClr val="286C9B"/>
                </a:solidFill>
              </a:rPr>
              <a:t>0.575 → 0.156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06EA5-FE31-462B-BE46-E279806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</a:defRPr>
            </a:pPr>
            <a:r>
              <a:rPr sz="1200" b="1">
                <a:solidFill>
                  <a:srgbClr val="62666D"/>
                </a:solidFill>
              </a:rPr>
              <a:t>合规率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D31FE-8001-4AA1-A04C-6529504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5A38"/>
                </a:solidFill>
              </a:defRPr>
            </a:pPr>
            <a:r>
              <a:rPr sz="2175" b="1">
                <a:solidFill>
                  <a:srgbClr val="D85A38"/>
                </a:solidFill>
              </a:rPr>
              <a:t>0.156 → 约 0.68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AF6CE-E253-4344-A667-B652DBA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1414"/>
                </a:solidFill>
              </a:defRPr>
            </a:pPr>
            <a:r>
              <a:rPr sz="2175" b="1">
                <a:solidFill>
                  <a:srgbClr val="141414"/>
                </a:solidFill>
              </a:rPr>
              <a:t>当前发现：风险上升，同时回答更分散。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E2D48-6548-4F36-B9D5-E128633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</a:defRPr>
            </a:pPr>
            <a:r>
              <a:rPr sz="975" b="0">
                <a:solidFill>
                  <a:srgbClr val="62666D"/>
                </a:solidFill>
              </a:rPr>
              <a:t>安全审计：Granite Guardian；完整统计见 new_idea_report.md。</a:t>
            </a:r>
          </a:p>
        </p:txBody>
      </p:sp>
    </p:spTree>
    <p:extLst>
      <p:ext uri="{BB962C8B-B14F-4D97-AF65-F5344CB8AC3E}">
        <p14:creationId xmlns:p14="http://schemas.microsoft.com/office/powerpoint/2010/main" val="1969304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BA01D-966E-417B-81FB-B217AC0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07 实验二：Qwen3-4B 方向复核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C0A8-BD49-4081-A92A-A21490D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换更大模型，是为了检查现象是否只是 1.7B 的偶然行为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1C985-E022-4124-B390-CCEDA765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这是方向复核，不是严格规模律验证：仅 100 steps、1 个训练种子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4FC71-3AB8-47B9-BEAB-86107DB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EBB2B-ED55-40DB-8767-F3CFC82E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D8D62-4AB5-4C56-A0FE-CB93BED2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9C7A8-C1A2-475A-AC07-CC08EB4C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6671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7FEC9-8F9F-4F5E-9776-C1FE1CE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A38"/>
                </a:solidFill>
              </a:defRPr>
            </a:pPr>
            <a:r>
              <a:rPr sz="1650" b="1">
                <a:solidFill>
                  <a:srgbClr val="D85A38"/>
                </a:solidFill>
              </a:rPr>
              <a:t>为什么做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82030-CB81-4155-AA02-70ADC460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9A596-5C48-4F8D-824D-A52AB937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单一模型不能支持一般结论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91AC9-B7AB-4D3A-93D8-3BF23E0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35010-CD57-40F5-AF3B-06F3740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模型增大后，方向可能反转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F35DC-3E41-4A4E-B223-B875656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66D"/>
                </a:solidFill>
              </a:defRPr>
            </a:pPr>
            <a:r>
              <a:rPr sz="1275" b="1">
                <a:solidFill>
                  <a:srgbClr val="62666D"/>
                </a:solidFill>
              </a:rPr>
              <a:t>设置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B4F82-BB42-434F-A70E-7C5E8B47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Qwen3-4B；LoRA-DPO；100 steps；seed 42；10 题 × 16 次采样。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E935B-D320-49A3-B6F1-8680375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5905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1849C-09EC-4FF8-A7BB-41CEC42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A38"/>
                </a:solidFill>
              </a:defRPr>
            </a:pPr>
            <a:r>
              <a:rPr sz="1650" b="1">
                <a:solidFill>
                  <a:srgbClr val="D85A38"/>
                </a:solidFill>
              </a:rPr>
              <a:t>观察到什么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C6B2C-ABD5-4EB8-A0F9-364C76D7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821D9-E940-4CC3-B1F9-2CB81BC9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确定性 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67E5D-A8BD-4383-8EFA-825EDD9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24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6C9B"/>
                </a:solidFill>
              </a:defRPr>
            </a:pPr>
            <a:r>
              <a:rPr sz="2550" b="1">
                <a:solidFill>
                  <a:srgbClr val="286C9B"/>
                </a:solidFill>
              </a:rPr>
              <a:t>−0.0187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00984-0759-4B58-839A-037FBE0A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仍然下降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D04E5-E4FA-41BE-9EAF-B4F88A01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0B4AC-561A-44F1-9B2A-3694C21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模式熵 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FE236-04BA-4C12-9ED2-FABFB8AB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24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7D5B"/>
                </a:solidFill>
              </a:defRPr>
            </a:pPr>
            <a:r>
              <a:rPr sz="2550" b="1">
                <a:solidFill>
                  <a:srgbClr val="377D5B"/>
                </a:solidFill>
              </a:rPr>
              <a:t>+0.0701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ABC35-33EE-45AF-8EB6-06BA016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仍然上升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3DDDD-0BB5-468F-850F-BCF59236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C5AAD-BF16-44BE-9D7B-8F66CAAC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Guardian 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5DD70-C329-4630-8719-4E62B41C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5A38"/>
                </a:solidFill>
              </a:defRPr>
            </a:pPr>
            <a:r>
              <a:rPr sz="2550" b="1">
                <a:solidFill>
                  <a:srgbClr val="D85A38"/>
                </a:solidFill>
              </a:rPr>
              <a:t>+0.4688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E90FD-D6CE-4D79-9A73-FEE3B544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风险上升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D7FD0-27E2-4425-87F5-05E6374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414"/>
                </a:solidFill>
              </a:defRPr>
            </a:pPr>
            <a:r>
              <a:rPr sz="1875" b="1">
                <a:solidFill>
                  <a:srgbClr val="141414"/>
                </a:solidFill>
              </a:rPr>
              <a:t>含义：模型更大后，风险上升而回答不更集中的方向没有反转。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5920C-1B5C-4281-A4B5-1A79968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</a:defRPr>
            </a:pPr>
            <a:r>
              <a:rPr sz="1200" b="0">
                <a:solidFill>
                  <a:srgbClr val="62666D"/>
                </a:solidFill>
              </a:rPr>
              <a:t>限制：单种子、短训练，只能提供跨规模方向性支持。</a:t>
            </a:r>
          </a:p>
        </p:txBody>
      </p:sp>
    </p:spTree>
    <p:extLst>
      <p:ext uri="{BB962C8B-B14F-4D97-AF65-F5344CB8AC3E}">
        <p14:creationId xmlns:p14="http://schemas.microsoft.com/office/powerpoint/2010/main" val="685689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3A6827-E577-45BD-BCA7-83D5B273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08 实验三：换题验证与逐题拆分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32C79-4B6B-4AAA-842B-CA94470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换新题是为了排除 first-10 偶然性；逐题拆分是为了防止平均数误导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4BE51-606F-4DBF-AC12-F88D6A6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这组实验把“是否泛化”与“对哪些题泛化”分开回答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9220A-1EA4-4180-BBC0-04A32D52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DCCAC-3650-4A31-BBF2-85631D56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84770-28F7-455E-8515-04DAB47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7A11B-23BC-499A-AA85-448A576C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3A92C-2D7F-4B33-AE11-BF575455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30 条 held-out 新题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8DD1F-E5AC-472F-BA30-0275FAF2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为什么做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2904A-CDFA-4A04-813B-5E332A75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与旧题零重叠，避免只在原题集上观察现象。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F435-1D88-4CD3-AC6F-7EFE5D6A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怎么做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3E40C-DC2D-4DCB-9324-B7DBDB53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每题 32 次采样；种子 42、43；Granite Guardian 审计。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FDBC0-7A98-4E45-BB29-13AD3509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9D56F-4683-460A-AA57-E715FF1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404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C9B"/>
                </a:solidFill>
              </a:defRPr>
            </a:pPr>
            <a:r>
              <a:rPr sz="1200" b="1">
                <a:solidFill>
                  <a:srgbClr val="286C9B"/>
                </a:solidFill>
              </a:rPr>
              <a:t>Guardian Yes Δ = +0.0307；</a:t>
            </a:r>
          </a:p>
          <a:p xmlns:a="http://schemas.openxmlformats.org/drawingml/2006/main">
            <a:pPr algn="l">
              <a:defRPr sz="1200" b="1">
                <a:solidFill>
                  <a:srgbClr val="286C9B"/>
                </a:solidFill>
              </a:defRPr>
            </a:pPr>
            <a:r>
              <a:rPr sz="1200" b="1">
                <a:solidFill>
                  <a:srgbClr val="286C9B"/>
                </a:solidFill>
              </a:rPr>
              <a:t>确定性下降、模式熵上升。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3AC31-EA03-4DC8-A2A4-59CBA04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5A998-C886-408A-87F5-CAD8BD2F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50 条逐题拆分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FCCC5-D6D5-4E27-B421-CF3AAE3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为什么做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7A2F2-8BB4-483B-87E5-3441271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聚合平均值可能遮住相反方向的题目。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91D29-CFCB-4CDD-AB38-A3D55653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F7226-6239-44B5-910C-CCB0EA0B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7D5B"/>
                </a:solidFill>
              </a:defRPr>
            </a:pPr>
            <a:r>
              <a:rPr sz="1800" b="1">
                <a:solidFill>
                  <a:srgbClr val="377D5B"/>
                </a:solidFill>
              </a:rPr>
              <a:t>34 通过  /  33 混合  /  33 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0E73A-06A1-4FD7-B141-CB5593C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含义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CCF93-5F7D-4A4C-A8B5-34FAA554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提示级异质性显著，必须逐题报告，不能把平均数包装成普遍规律。</a:t>
            </a:r>
          </a:p>
        </p:txBody>
      </p:sp>
    </p:spTree>
    <p:extLst>
      <p:ext uri="{BB962C8B-B14F-4D97-AF65-F5344CB8AC3E}">
        <p14:creationId xmlns:p14="http://schemas.microsoft.com/office/powerpoint/2010/main" val="1955234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C55F9-9222-4A76-A03C-52B0CCA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09 实验四：拒答模板反向控制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1515-E1E7-4EC9-820F-EA88BC6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这个实验检验“输出更集中”是否必然意味着“更危险”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FFAEA-7E02-45E7-A438-508E6CB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如果集中到安全拒答，集中应当对应更低风险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AED81-0D07-4B8D-81D9-FBFF9C8C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80CB-C274-4A25-809C-00268C83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B4784-3938-4E20-8B18-C24E9D0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0FFCF-EB42-448A-B6A2-5BCED7D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524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FDAF5-422C-4000-BACF-4B21286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A38"/>
                </a:solidFill>
              </a:defRPr>
            </a:pPr>
            <a:r>
              <a:rPr sz="1650" b="1">
                <a:solidFill>
                  <a:srgbClr val="D85A38"/>
                </a:solidFill>
              </a:rPr>
              <a:t>为什么做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3DC21-8F2E-4415-84C5-6848034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44806-5EAE-44D2-A8DC-27A812A2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排除“确定性上升就是风险上升”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685B3-E534-4170-9A90-47ED5DB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57CDE-900C-410B-8D13-23F934A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76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验证风险与集中度是两条坐标轴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315C4-87CF-4811-B050-1C9AB52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66D"/>
                </a:solidFill>
              </a:defRPr>
            </a:pPr>
            <a:r>
              <a:rPr sz="1275" b="1">
                <a:solidFill>
                  <a:srgbClr val="62666D"/>
                </a:solidFill>
              </a:rPr>
              <a:t>怎么做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58031-39A4-45CB-84DD-F87A3EF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保持同一 DPO 管线，但让 chosen 是统一的安全拒答模板。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8402C-F8F8-41BC-9049-4642D141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6000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80D3E-1F9D-4C9D-96A5-153741F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A38"/>
                </a:solidFill>
              </a:defRPr>
            </a:pPr>
            <a:r>
              <a:rPr sz="1650" b="1">
                <a:solidFill>
                  <a:srgbClr val="D85A38"/>
                </a:solidFill>
              </a:rPr>
              <a:t>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5B29D-2436-4FF6-8A18-96A2661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C9B"/>
                </a:solidFill>
              </a:defRPr>
            </a:pPr>
            <a:r>
              <a:rPr sz="1800" b="1">
                <a:solidFill>
                  <a:srgbClr val="286C9B"/>
                </a:solidFill>
              </a:rPr>
              <a:t>确定性上升  |  模式熵下降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67284-EE5A-4C1C-8B5D-BDD775E5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7D5B"/>
                </a:solidFill>
              </a:defRPr>
            </a:pPr>
            <a:r>
              <a:rPr sz="1650" b="1">
                <a:solidFill>
                  <a:srgbClr val="377D5B"/>
                </a:solidFill>
              </a:rPr>
              <a:t>拒答率上升  |  合规率下降  |  代理风险下降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1ADCB-D47E-44E5-9485-B182384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C72DC-D046-48BA-93DF-0AA5A65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它说明什么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B9720-15EF-48DD-B915-D642A72F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148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模型可以更集中，但同时更安全。</a:t>
            </a:r>
          </a:p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所以不能只用集中度或确定性给安全下结论。</a:t>
            </a:r>
          </a:p>
        </p:txBody>
      </p:sp>
    </p:spTree>
    <p:extLst>
      <p:ext uri="{BB962C8B-B14F-4D97-AF65-F5344CB8AC3E}">
        <p14:creationId xmlns:p14="http://schemas.microsoft.com/office/powerpoint/2010/main" val="9364095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BD929-2D75-49B2-AAED-67161A8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10 实验五：Granite Guardian 固定回答控制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E12AC-847B-4BFC-B9B7-21B8AE2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这个实验检验风险分类器是否真正随“回答内容”变化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CC60B-EB7A-4FB3-8E26-2738AB2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若分类器只因题目有害就判高分，前面的风险结果将不可信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69583-FB6B-4F4C-A30F-97341A65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4A27D-E7CB-455B-9CA6-8C427796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6708-E0B6-4507-9A8F-D66A6287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0EBC0-ACEF-49BB-BE51-EE7CEF5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4290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43657-53EC-4E5A-91C9-0232D06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A38"/>
                </a:solidFill>
              </a:defRPr>
            </a:pPr>
            <a:r>
              <a:rPr sz="1650" b="1">
                <a:solidFill>
                  <a:srgbClr val="D85A38"/>
                </a:solidFill>
              </a:rPr>
              <a:t>为什么做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2C6C-3D4F-4715-B4BF-89A6B075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89F86-60BB-451D-A77C-A3147312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验证 Guardian 不是只看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B34D5-9B29-4027-B370-C1D8B50B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1F556-2A51-4331-9227-FCC5BB9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确认风险评分可用于比较训练前后回答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8FDF-64CB-4766-8DA9-118635CF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666D"/>
                </a:solidFill>
              </a:defRPr>
            </a:pPr>
            <a:r>
              <a:rPr sz="1275" b="1">
                <a:solidFill>
                  <a:srgbClr val="62666D"/>
                </a:solidFill>
              </a:rPr>
              <a:t>怎么做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6F7B7-8133-4860-945F-5DD503FB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7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对相同风险提示配上不同固定回答，再观察分类结果。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15784-6A32-47C6-9B5C-02F5AAF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76450"/>
            <a:ext cx="60769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530D1-CD84-4E4C-9324-3B6AD37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5A38"/>
                </a:solidFill>
              </a:defRPr>
            </a:pPr>
            <a:r>
              <a:rPr sz="1500" b="1">
                <a:solidFill>
                  <a:srgbClr val="D85A38"/>
                </a:solidFill>
              </a:rPr>
              <a:t>结果：同一类问题配不同回答，评分显著不同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D08F1-5236-4615-ADC5-25A18EF4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CD5EF-0ACC-42DB-895B-688936E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固定回答类型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A4232-2F97-4AC2-A3E4-7977A2DE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8080-7FD3-4863-ACDF-6518E059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414"/>
                </a:solidFill>
              </a:defRPr>
            </a:pPr>
            <a:r>
              <a:rPr sz="1200" b="1">
                <a:solidFill>
                  <a:srgbClr val="141414"/>
                </a:solidFill>
              </a:rPr>
              <a:t>Guardian 判风险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D540F-18C7-410B-B39F-56FD84F9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497B4-42A2-435E-9EAF-9F4CFBB3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安全拒答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E6552-FADA-4146-93B0-03F2A588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C6B86-AFA4-446A-81ED-411FB06C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0 / 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02B7F-4DED-4EA2-89D3-A91D9B7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214B1-8389-4A6C-82F7-AC0534D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71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中性边界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169D5-6A07-4C01-B44B-A53EC2D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04D63-4ED4-409E-B854-F347091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1 /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C549D-2BE1-4E89-8817-A90A204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2F02F-3851-4AA0-B5B7-70FFAF2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不安全意图占位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CE4F0-3C52-4173-B959-F825C93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0E1BA6-0A86-4EE0-A851-8CC61F9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10 / 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587FC-B2E9-45EA-B737-2353CF38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0603D-1721-4F46-B8F8-948DA7C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10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短合规模板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1061CC-8FDC-404D-A22C-56E340E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890D1-7548-49AA-B09B-F24828CB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9 /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EA492-1D0E-4477-94BD-F38AD26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含义：当前审计信号对 response 敏感；后续仍以第二分类器和人工抽审校验。</a:t>
            </a:r>
          </a:p>
        </p:txBody>
      </p:sp>
    </p:spTree>
    <p:extLst>
      <p:ext uri="{BB962C8B-B14F-4D97-AF65-F5344CB8AC3E}">
        <p14:creationId xmlns:p14="http://schemas.microsoft.com/office/powerpoint/2010/main" val="457987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A49DE-36EB-47B4-B21B-A293066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11 80 条新题的严格验证已准备好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B88DA-C62B-4D9C-B75B-B79DED5D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题集与基线 gate 已通过，但训练后复验尚未完成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0486C-38BB-4DAE-8F22-3F12199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它的作用是排除“只在 10 道精选题上成立”的质疑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2110B-EC94-4391-A5B6-8796C68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3E0A1-B7D1-42EB-91CE-1F974AD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9BC7D-59B3-48D1-B3F7-DEC03D77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E4511-B27F-4265-8D60-B180A2D0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DEE6-0BE0-4653-B7C8-737152B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新题数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E9ED2-0C55-4463-9C71-049A2A7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5A38"/>
                </a:solidFill>
              </a:defRPr>
            </a:pPr>
            <a:r>
              <a:rPr sz="2550" b="1">
                <a:solidFill>
                  <a:srgbClr val="D85A38"/>
                </a:solidFill>
              </a:rPr>
              <a:t>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2CDA8-B906-40B5-A19C-A9082519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从 520 条中排除旧题后随机冻结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2553D-B580-4351-9BB0-CFF166EE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F3246-3F4D-43CE-9B01-AF61A65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重叠 / 重复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49DA-FF01-44E5-8182-4334EDC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43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7D5B"/>
                </a:solidFill>
              </a:defRPr>
            </a:pPr>
            <a:r>
              <a:rPr sz="2550" b="1">
                <a:solidFill>
                  <a:srgbClr val="377D5B"/>
                </a:solidFill>
              </a:rPr>
              <a:t>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C9CA7-BDF7-40CE-82ED-9936997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24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与既往 gate 零重叠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F7A64-A94F-4828-A8EB-60E8AE49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F27E-AB67-4B2C-9C71-00B786A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采样规模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CED44-467D-4443-86A4-ADB8E0C5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43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6C9B"/>
                </a:solidFill>
              </a:defRPr>
            </a:pPr>
            <a:r>
              <a:rPr sz="2550" b="1">
                <a:solidFill>
                  <a:srgbClr val="286C9B"/>
                </a:solidFill>
              </a:rPr>
              <a:t>2560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08B59-D6C6-423A-8AA4-2C8EC64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80 题 × 每题 32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0B350-15DF-4E83-917D-3750191C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34906-0AAB-48C5-B4EA-C6E0FCF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基线拒答率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A81C1-B11B-47D0-B925-9D3ABA85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7D5B"/>
                </a:solidFill>
              </a:defRPr>
            </a:pPr>
            <a:r>
              <a:rPr sz="2550" b="1">
                <a:solidFill>
                  <a:srgbClr val="377D5B"/>
                </a:solidFill>
              </a:rPr>
              <a:t>0.8645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2CE45-B1BA-4864-96A2-F547F3E5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安全拒答为主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68AA7-A4C7-4643-94E6-0F75FEAD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94336-5006-4CDF-BDF8-398B05F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</a:defRPr>
            </a:pPr>
            <a:r>
              <a:rPr sz="1125" b="1">
                <a:solidFill>
                  <a:srgbClr val="62666D"/>
                </a:solidFill>
              </a:rPr>
              <a:t>高风险指令率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0A76D-CD33-426E-9CAB-7D18749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43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5A38"/>
                </a:solidFill>
              </a:defRPr>
            </a:pPr>
            <a:r>
              <a:rPr sz="2550" b="1">
                <a:solidFill>
                  <a:srgbClr val="D85A38"/>
                </a:solidFill>
              </a:rPr>
              <a:t>0.0023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29D8F-7C55-4ABC-8480-3D1E0C6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</a:defRPr>
            </a:pPr>
            <a:r>
              <a:rPr sz="1125" b="0">
                <a:solidFill>
                  <a:srgbClr val="62666D"/>
                </a:solidFill>
              </a:rPr>
              <a:t>代理风险很低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6B825-7550-423F-8399-052DC09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19C24-EFD3-45A2-9117-38FDDFF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A38"/>
                </a:solidFill>
              </a:defRPr>
            </a:pPr>
            <a:r>
              <a:rPr sz="1275" b="1">
                <a:solidFill>
                  <a:srgbClr val="D85A38"/>
                </a:solidFill>
              </a:rPr>
              <a:t>重要约束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92ABE-E0A9-47CA-AAEF-8143EA94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72 / 80 个提示的基线确定性 ≥ 0.95。后续不能只报告“多样性不降”，必须同时报告绝对多样性、拒答迁移、RDI、风险熵与双分类器风险。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D4906-9AFD-4F0B-87A4-427F101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</a:defRPr>
            </a:pPr>
            <a:r>
              <a:rPr sz="975" b="0">
                <a:solidFill>
                  <a:srgbClr val="62666D"/>
                </a:solidFill>
              </a:rPr>
              <a:t>题集来源：AdvBench；细节见 qwen3_prompt_reasonableness_gate.md。</a:t>
            </a:r>
          </a:p>
        </p:txBody>
      </p:sp>
    </p:spTree>
    <p:extLst>
      <p:ext uri="{BB962C8B-B14F-4D97-AF65-F5344CB8AC3E}">
        <p14:creationId xmlns:p14="http://schemas.microsoft.com/office/powerpoint/2010/main" val="15932152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C2551-44CC-42DD-A772-983B918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A38"/>
                </a:solidFill>
              </a:defRPr>
            </a:pPr>
            <a:r>
              <a:rPr sz="1050" b="1">
                <a:solidFill>
                  <a:srgbClr val="D85A38"/>
                </a:solidFill>
              </a:rPr>
              <a:t>12 开题后的核心工作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C4F1F-2433-4D52-8CD7-01FE4DA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1414"/>
                </a:solidFill>
              </a:defRPr>
            </a:pPr>
            <a:r>
              <a:rPr sz="2775" b="1">
                <a:solidFill>
                  <a:srgbClr val="141414"/>
                </a:solidFill>
              </a:rPr>
              <a:t>严格检验这个问题何时成立，而不是预设它必然成立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BF39F-7501-4C7D-92ED-8F7A1723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结果无论为正或为负，都将回答一个清楚的安全评测问题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A7F42-7985-4172-BC11-25EE72F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C5C40-6514-47BB-BABB-EDA9293E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风险-多样性解耦开题  |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E4B3A-FA97-405F-A95C-39541F6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</a:defRPr>
            </a:pPr>
            <a:r>
              <a:rPr sz="900" b="0">
                <a:solidFill>
                  <a:srgbClr val="62666D"/>
                </a:solidFill>
              </a:rPr>
              <a:t>2026.07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0605A-605C-4E5A-9A12-BFE3239F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DB"/>
          </a:solidFill>
          <a:ln xmlns:a="http://schemas.openxmlformats.org/drawingml/2006/main" w="9525">
            <a:solidFill>
              <a:srgbClr val="D85A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4CF8-E035-4D37-98AA-9C89DCB0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A38"/>
                </a:solidFill>
              </a:defRPr>
            </a:pPr>
            <a:r>
              <a:rPr sz="1350" b="1">
                <a:solidFill>
                  <a:srgbClr val="D85A3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45CC9-73B4-4773-B62E-35C353A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5A38"/>
                </a:solidFill>
              </a:defRPr>
            </a:pPr>
            <a:r>
              <a:rPr sz="1575" b="1">
                <a:solidFill>
                  <a:srgbClr val="D85A38"/>
                </a:solidFill>
              </a:rPr>
              <a:t>严格复验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CEC89-5C78-4E07-9ECE-9ABC301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Qwen3-1.7B；至少两个独立训练种子；训练前后均每题 32 次采样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BED6-686C-4DAA-A82B-26A791D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6959F-0B8D-40EF-B334-CBF197F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76FA7-8549-42A4-A32A-F1462E1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交叉审计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5AA68-C82A-4AC8-B9F6-FEFD0477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Granite Guardian + 第二分类器；人工抽审分歧样本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73F46-098D-48FC-A1C5-0FF99DA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DD07B-012C-479D-AD2D-A06478E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A5258-2D4A-45F7-B165-1D3FD19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机制解释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FC4AF-7CBE-4681-BDC8-461250C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分析拒答边界、偏好构造、训练步数与风险分布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C3762-4562-41E6-9E6E-5FE40139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C7C9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99E4D-622E-4F27-8CF8-A5D82C4C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B31C1-BEC6-41B7-8973-46444ACB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预警与缓解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CA06A-168C-4C10-A308-26EBE4D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</a:defRPr>
            </a:pPr>
            <a:r>
              <a:rPr sz="1275" b="0">
                <a:solidFill>
                  <a:srgbClr val="62666D"/>
                </a:solidFill>
              </a:rPr>
              <a:t>降低分散风险，同时避免模型退化为一律拒答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82287-52B9-4E82-B907-41BCE44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支持新假设的最低条件：两个种子中风险一致上升；多样性不降或风险熵显示分散；第二分类器方向一致；逐题结果可解释。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6736E-857C-4A5F-BA7E-8D92CB85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</a:defRPr>
            </a:pPr>
            <a:r>
              <a:rPr sz="1350" b="0">
                <a:solidFill>
                  <a:srgbClr val="62666D"/>
                </a:solidFill>
              </a:rPr>
              <a:t>若不满足：转向“发生边界与负结果基准”，不把现象包装为普遍漏洞。</a:t>
            </a:r>
          </a:p>
        </p:txBody>
      </p:sp>
    </p:spTree>
    <p:extLst>
      <p:ext uri="{BB962C8B-B14F-4D97-AF65-F5344CB8AC3E}">
        <p14:creationId xmlns:p14="http://schemas.microsoft.com/office/powerpoint/2010/main" val="1827419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2026-07-11T12:00:54.9190000Z</dcterms:created>
  <dcterms:modified xsi:type="dcterms:W3CDTF">2026-07-11T12:00:54.9190000Z</dcterms:modified>
</coreProperties>
</file>